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3" r:id="rId2"/>
  </p:sldMasterIdLst>
  <p:notesMasterIdLst>
    <p:notesMasterId r:id="rId18"/>
  </p:notesMasterIdLst>
  <p:sldIdLst>
    <p:sldId id="277" r:id="rId3"/>
    <p:sldId id="259" r:id="rId4"/>
    <p:sldId id="276" r:id="rId5"/>
    <p:sldId id="257" r:id="rId6"/>
    <p:sldId id="274" r:id="rId7"/>
    <p:sldId id="278" r:id="rId8"/>
    <p:sldId id="260" r:id="rId9"/>
    <p:sldId id="264" r:id="rId10"/>
    <p:sldId id="272" r:id="rId11"/>
    <p:sldId id="265" r:id="rId12"/>
    <p:sldId id="273" r:id="rId13"/>
    <p:sldId id="266" r:id="rId14"/>
    <p:sldId id="267" r:id="rId15"/>
    <p:sldId id="275" r:id="rId16"/>
    <p:sldId id="271" r:id="rId17"/>
  </p:sldIdLst>
  <p:sldSz cx="12192000" cy="6858000"/>
  <p:notesSz cx="6858000" cy="9144000"/>
  <p:embeddedFontLst>
    <p:embeddedFont>
      <p:font typeface="微软雅黑" panose="020B0503020204020204" pitchFamily="34" charset="-122"/>
      <p:regular r:id="rId19"/>
      <p:bold r:id="rId20"/>
    </p:embeddedFont>
    <p:embeddedFont>
      <p:font typeface="Press Start 2P" pitchFamily="2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690" userDrawn="1">
          <p15:clr>
            <a:srgbClr val="A4A3A4"/>
          </p15:clr>
        </p15:guide>
        <p15:guide id="4" orient="horz" pos="549" userDrawn="1">
          <p15:clr>
            <a:srgbClr val="A4A3A4"/>
          </p15:clr>
        </p15:guide>
        <p15:guide id="5" pos="779" userDrawn="1">
          <p15:clr>
            <a:srgbClr val="A4A3A4"/>
          </p15:clr>
        </p15:guide>
        <p15:guide id="6" pos="69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631C"/>
    <a:srgbClr val="69BC49"/>
    <a:srgbClr val="3B8526"/>
    <a:srgbClr val="5E4732"/>
    <a:srgbClr val="8B8B8B"/>
    <a:srgbClr val="D9D9D9"/>
    <a:srgbClr val="848484"/>
    <a:srgbClr val="707070"/>
    <a:srgbClr val="DEE0AF"/>
    <a:srgbClr val="818F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126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208" y="848"/>
      </p:cViewPr>
      <p:guideLst>
        <p:guide orient="horz" pos="2160"/>
        <p:guide pos="3840"/>
        <p:guide orient="horz" pos="3690"/>
        <p:guide orient="horz" pos="549"/>
        <p:guide pos="779"/>
        <p:guide pos="69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2427622" y="2115403"/>
            <a:ext cx="2306472" cy="3330054"/>
          </a:xfrm>
          <a:custGeom>
            <a:avLst/>
            <a:gdLst>
              <a:gd name="connsiteX0" fmla="*/ 0 w 2306472"/>
              <a:gd name="connsiteY0" fmla="*/ 0 h 3330054"/>
              <a:gd name="connsiteX1" fmla="*/ 2306472 w 2306472"/>
              <a:gd name="connsiteY1" fmla="*/ 0 h 3330054"/>
              <a:gd name="connsiteX2" fmla="*/ 2306472 w 2306472"/>
              <a:gd name="connsiteY2" fmla="*/ 3330054 h 3330054"/>
              <a:gd name="connsiteX3" fmla="*/ 0 w 2306472"/>
              <a:gd name="connsiteY3" fmla="*/ 3330054 h 333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472" h="3330054">
                <a:moveTo>
                  <a:pt x="0" y="0"/>
                </a:moveTo>
                <a:lnTo>
                  <a:pt x="2306472" y="0"/>
                </a:lnTo>
                <a:lnTo>
                  <a:pt x="2306472" y="3330054"/>
                </a:lnTo>
                <a:lnTo>
                  <a:pt x="0" y="33300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4942764" y="2115403"/>
            <a:ext cx="2306472" cy="3330054"/>
          </a:xfrm>
          <a:custGeom>
            <a:avLst/>
            <a:gdLst>
              <a:gd name="connsiteX0" fmla="*/ 0 w 2306472"/>
              <a:gd name="connsiteY0" fmla="*/ 0 h 3330054"/>
              <a:gd name="connsiteX1" fmla="*/ 2306472 w 2306472"/>
              <a:gd name="connsiteY1" fmla="*/ 0 h 3330054"/>
              <a:gd name="connsiteX2" fmla="*/ 2306472 w 2306472"/>
              <a:gd name="connsiteY2" fmla="*/ 3330054 h 3330054"/>
              <a:gd name="connsiteX3" fmla="*/ 0 w 2306472"/>
              <a:gd name="connsiteY3" fmla="*/ 3330054 h 333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472" h="3330054">
                <a:moveTo>
                  <a:pt x="0" y="0"/>
                </a:moveTo>
                <a:lnTo>
                  <a:pt x="2306472" y="0"/>
                </a:lnTo>
                <a:lnTo>
                  <a:pt x="2306472" y="3330054"/>
                </a:lnTo>
                <a:lnTo>
                  <a:pt x="0" y="33300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2"/>
          </p:nvPr>
        </p:nvSpPr>
        <p:spPr>
          <a:xfrm>
            <a:off x="7457906" y="2115403"/>
            <a:ext cx="2306472" cy="3330054"/>
          </a:xfrm>
          <a:custGeom>
            <a:avLst/>
            <a:gdLst>
              <a:gd name="connsiteX0" fmla="*/ 0 w 2306472"/>
              <a:gd name="connsiteY0" fmla="*/ 0 h 3330054"/>
              <a:gd name="connsiteX1" fmla="*/ 2306472 w 2306472"/>
              <a:gd name="connsiteY1" fmla="*/ 0 h 3330054"/>
              <a:gd name="connsiteX2" fmla="*/ 2306472 w 2306472"/>
              <a:gd name="connsiteY2" fmla="*/ 3330054 h 3330054"/>
              <a:gd name="connsiteX3" fmla="*/ 0 w 2306472"/>
              <a:gd name="connsiteY3" fmla="*/ 3330054 h 333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472" h="3330054">
                <a:moveTo>
                  <a:pt x="0" y="0"/>
                </a:moveTo>
                <a:lnTo>
                  <a:pt x="2306472" y="0"/>
                </a:lnTo>
                <a:lnTo>
                  <a:pt x="2306472" y="3330054"/>
                </a:lnTo>
                <a:lnTo>
                  <a:pt x="0" y="33300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334054" y="378445"/>
            <a:ext cx="11523892" cy="6101111"/>
          </a:xfrm>
          <a:custGeom>
            <a:avLst/>
            <a:gdLst>
              <a:gd name="connsiteX0" fmla="*/ 0 w 11523892"/>
              <a:gd name="connsiteY0" fmla="*/ 0 h 6101111"/>
              <a:gd name="connsiteX1" fmla="*/ 11523892 w 11523892"/>
              <a:gd name="connsiteY1" fmla="*/ 0 h 6101111"/>
              <a:gd name="connsiteX2" fmla="*/ 11523892 w 11523892"/>
              <a:gd name="connsiteY2" fmla="*/ 6101111 h 6101111"/>
              <a:gd name="connsiteX3" fmla="*/ 0 w 11523892"/>
              <a:gd name="connsiteY3" fmla="*/ 6101111 h 610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3892" h="6101111">
                <a:moveTo>
                  <a:pt x="0" y="0"/>
                </a:moveTo>
                <a:lnTo>
                  <a:pt x="11523892" y="0"/>
                </a:lnTo>
                <a:lnTo>
                  <a:pt x="11523892" y="6101111"/>
                </a:lnTo>
                <a:lnTo>
                  <a:pt x="0" y="61011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473754" y="1965945"/>
            <a:ext cx="3502024" cy="3997325"/>
          </a:xfrm>
          <a:custGeom>
            <a:avLst/>
            <a:gdLst>
              <a:gd name="connsiteX0" fmla="*/ 0 w 3502024"/>
              <a:gd name="connsiteY0" fmla="*/ 0 h 3997325"/>
              <a:gd name="connsiteX1" fmla="*/ 3502024 w 3502024"/>
              <a:gd name="connsiteY1" fmla="*/ 0 h 3997325"/>
              <a:gd name="connsiteX2" fmla="*/ 3502024 w 3502024"/>
              <a:gd name="connsiteY2" fmla="*/ 3997325 h 3997325"/>
              <a:gd name="connsiteX3" fmla="*/ 0 w 3502024"/>
              <a:gd name="connsiteY3" fmla="*/ 3997325 h 399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2024" h="3997325">
                <a:moveTo>
                  <a:pt x="0" y="0"/>
                </a:moveTo>
                <a:lnTo>
                  <a:pt x="3502024" y="0"/>
                </a:lnTo>
                <a:lnTo>
                  <a:pt x="3502024" y="3997325"/>
                </a:lnTo>
                <a:lnTo>
                  <a:pt x="0" y="39973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4344988" y="1965945"/>
            <a:ext cx="3502024" cy="3997325"/>
          </a:xfrm>
          <a:custGeom>
            <a:avLst/>
            <a:gdLst>
              <a:gd name="connsiteX0" fmla="*/ 0 w 3502024"/>
              <a:gd name="connsiteY0" fmla="*/ 0 h 3997325"/>
              <a:gd name="connsiteX1" fmla="*/ 3502024 w 3502024"/>
              <a:gd name="connsiteY1" fmla="*/ 0 h 3997325"/>
              <a:gd name="connsiteX2" fmla="*/ 3502024 w 3502024"/>
              <a:gd name="connsiteY2" fmla="*/ 3997325 h 3997325"/>
              <a:gd name="connsiteX3" fmla="*/ 0 w 3502024"/>
              <a:gd name="connsiteY3" fmla="*/ 3997325 h 399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2024" h="3997325">
                <a:moveTo>
                  <a:pt x="0" y="0"/>
                </a:moveTo>
                <a:lnTo>
                  <a:pt x="3502024" y="0"/>
                </a:lnTo>
                <a:lnTo>
                  <a:pt x="3502024" y="3997325"/>
                </a:lnTo>
                <a:lnTo>
                  <a:pt x="0" y="39973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2"/>
          </p:nvPr>
        </p:nvSpPr>
        <p:spPr>
          <a:xfrm>
            <a:off x="8191500" y="1965945"/>
            <a:ext cx="3502024" cy="3997325"/>
          </a:xfrm>
          <a:custGeom>
            <a:avLst/>
            <a:gdLst>
              <a:gd name="connsiteX0" fmla="*/ 0 w 3502024"/>
              <a:gd name="connsiteY0" fmla="*/ 0 h 3997325"/>
              <a:gd name="connsiteX1" fmla="*/ 3502024 w 3502024"/>
              <a:gd name="connsiteY1" fmla="*/ 0 h 3997325"/>
              <a:gd name="connsiteX2" fmla="*/ 3502024 w 3502024"/>
              <a:gd name="connsiteY2" fmla="*/ 3997325 h 3997325"/>
              <a:gd name="connsiteX3" fmla="*/ 0 w 3502024"/>
              <a:gd name="connsiteY3" fmla="*/ 3997325 h 399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2024" h="3997325">
                <a:moveTo>
                  <a:pt x="0" y="0"/>
                </a:moveTo>
                <a:lnTo>
                  <a:pt x="3502024" y="0"/>
                </a:lnTo>
                <a:lnTo>
                  <a:pt x="3502024" y="3997325"/>
                </a:lnTo>
                <a:lnTo>
                  <a:pt x="0" y="39973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2427622" y="2115403"/>
            <a:ext cx="2306472" cy="3330054"/>
          </a:xfrm>
          <a:custGeom>
            <a:avLst/>
            <a:gdLst>
              <a:gd name="connsiteX0" fmla="*/ 0 w 2306472"/>
              <a:gd name="connsiteY0" fmla="*/ 0 h 3330054"/>
              <a:gd name="connsiteX1" fmla="*/ 2306472 w 2306472"/>
              <a:gd name="connsiteY1" fmla="*/ 0 h 3330054"/>
              <a:gd name="connsiteX2" fmla="*/ 2306472 w 2306472"/>
              <a:gd name="connsiteY2" fmla="*/ 3330054 h 3330054"/>
              <a:gd name="connsiteX3" fmla="*/ 0 w 2306472"/>
              <a:gd name="connsiteY3" fmla="*/ 3330054 h 333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472" h="3330054">
                <a:moveTo>
                  <a:pt x="0" y="0"/>
                </a:moveTo>
                <a:lnTo>
                  <a:pt x="2306472" y="0"/>
                </a:lnTo>
                <a:lnTo>
                  <a:pt x="2306472" y="3330054"/>
                </a:lnTo>
                <a:lnTo>
                  <a:pt x="0" y="33300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4942764" y="2115403"/>
            <a:ext cx="2306472" cy="3330054"/>
          </a:xfrm>
          <a:custGeom>
            <a:avLst/>
            <a:gdLst>
              <a:gd name="connsiteX0" fmla="*/ 0 w 2306472"/>
              <a:gd name="connsiteY0" fmla="*/ 0 h 3330054"/>
              <a:gd name="connsiteX1" fmla="*/ 2306472 w 2306472"/>
              <a:gd name="connsiteY1" fmla="*/ 0 h 3330054"/>
              <a:gd name="connsiteX2" fmla="*/ 2306472 w 2306472"/>
              <a:gd name="connsiteY2" fmla="*/ 3330054 h 3330054"/>
              <a:gd name="connsiteX3" fmla="*/ 0 w 2306472"/>
              <a:gd name="connsiteY3" fmla="*/ 3330054 h 333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472" h="3330054">
                <a:moveTo>
                  <a:pt x="0" y="0"/>
                </a:moveTo>
                <a:lnTo>
                  <a:pt x="2306472" y="0"/>
                </a:lnTo>
                <a:lnTo>
                  <a:pt x="2306472" y="3330054"/>
                </a:lnTo>
                <a:lnTo>
                  <a:pt x="0" y="33300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2"/>
          </p:nvPr>
        </p:nvSpPr>
        <p:spPr>
          <a:xfrm>
            <a:off x="7457906" y="2115403"/>
            <a:ext cx="2306472" cy="3330054"/>
          </a:xfrm>
          <a:custGeom>
            <a:avLst/>
            <a:gdLst>
              <a:gd name="connsiteX0" fmla="*/ 0 w 2306472"/>
              <a:gd name="connsiteY0" fmla="*/ 0 h 3330054"/>
              <a:gd name="connsiteX1" fmla="*/ 2306472 w 2306472"/>
              <a:gd name="connsiteY1" fmla="*/ 0 h 3330054"/>
              <a:gd name="connsiteX2" fmla="*/ 2306472 w 2306472"/>
              <a:gd name="connsiteY2" fmla="*/ 3330054 h 3330054"/>
              <a:gd name="connsiteX3" fmla="*/ 0 w 2306472"/>
              <a:gd name="connsiteY3" fmla="*/ 3330054 h 333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472" h="3330054">
                <a:moveTo>
                  <a:pt x="0" y="0"/>
                </a:moveTo>
                <a:lnTo>
                  <a:pt x="2306472" y="0"/>
                </a:lnTo>
                <a:lnTo>
                  <a:pt x="2306472" y="3330054"/>
                </a:lnTo>
                <a:lnTo>
                  <a:pt x="0" y="33300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334054" y="378445"/>
            <a:ext cx="11523892" cy="6101111"/>
          </a:xfrm>
          <a:custGeom>
            <a:avLst/>
            <a:gdLst>
              <a:gd name="connsiteX0" fmla="*/ 0 w 11523892"/>
              <a:gd name="connsiteY0" fmla="*/ 0 h 6101111"/>
              <a:gd name="connsiteX1" fmla="*/ 11523892 w 11523892"/>
              <a:gd name="connsiteY1" fmla="*/ 0 h 6101111"/>
              <a:gd name="connsiteX2" fmla="*/ 11523892 w 11523892"/>
              <a:gd name="connsiteY2" fmla="*/ 6101111 h 6101111"/>
              <a:gd name="connsiteX3" fmla="*/ 0 w 11523892"/>
              <a:gd name="connsiteY3" fmla="*/ 6101111 h 610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3892" h="6101111">
                <a:moveTo>
                  <a:pt x="0" y="0"/>
                </a:moveTo>
                <a:lnTo>
                  <a:pt x="11523892" y="0"/>
                </a:lnTo>
                <a:lnTo>
                  <a:pt x="11523892" y="6101111"/>
                </a:lnTo>
                <a:lnTo>
                  <a:pt x="0" y="61011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473754" y="1965945"/>
            <a:ext cx="3502024" cy="3997325"/>
          </a:xfrm>
          <a:custGeom>
            <a:avLst/>
            <a:gdLst>
              <a:gd name="connsiteX0" fmla="*/ 0 w 3502024"/>
              <a:gd name="connsiteY0" fmla="*/ 0 h 3997325"/>
              <a:gd name="connsiteX1" fmla="*/ 3502024 w 3502024"/>
              <a:gd name="connsiteY1" fmla="*/ 0 h 3997325"/>
              <a:gd name="connsiteX2" fmla="*/ 3502024 w 3502024"/>
              <a:gd name="connsiteY2" fmla="*/ 3997325 h 3997325"/>
              <a:gd name="connsiteX3" fmla="*/ 0 w 3502024"/>
              <a:gd name="connsiteY3" fmla="*/ 3997325 h 399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2024" h="3997325">
                <a:moveTo>
                  <a:pt x="0" y="0"/>
                </a:moveTo>
                <a:lnTo>
                  <a:pt x="3502024" y="0"/>
                </a:lnTo>
                <a:lnTo>
                  <a:pt x="3502024" y="3997325"/>
                </a:lnTo>
                <a:lnTo>
                  <a:pt x="0" y="39973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4344988" y="1965945"/>
            <a:ext cx="3502024" cy="3997325"/>
          </a:xfrm>
          <a:custGeom>
            <a:avLst/>
            <a:gdLst>
              <a:gd name="connsiteX0" fmla="*/ 0 w 3502024"/>
              <a:gd name="connsiteY0" fmla="*/ 0 h 3997325"/>
              <a:gd name="connsiteX1" fmla="*/ 3502024 w 3502024"/>
              <a:gd name="connsiteY1" fmla="*/ 0 h 3997325"/>
              <a:gd name="connsiteX2" fmla="*/ 3502024 w 3502024"/>
              <a:gd name="connsiteY2" fmla="*/ 3997325 h 3997325"/>
              <a:gd name="connsiteX3" fmla="*/ 0 w 3502024"/>
              <a:gd name="connsiteY3" fmla="*/ 3997325 h 399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2024" h="3997325">
                <a:moveTo>
                  <a:pt x="0" y="0"/>
                </a:moveTo>
                <a:lnTo>
                  <a:pt x="3502024" y="0"/>
                </a:lnTo>
                <a:lnTo>
                  <a:pt x="3502024" y="3997325"/>
                </a:lnTo>
                <a:lnTo>
                  <a:pt x="0" y="39973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2"/>
          </p:nvPr>
        </p:nvSpPr>
        <p:spPr>
          <a:xfrm>
            <a:off x="8191500" y="1965945"/>
            <a:ext cx="3502024" cy="3997325"/>
          </a:xfrm>
          <a:custGeom>
            <a:avLst/>
            <a:gdLst>
              <a:gd name="connsiteX0" fmla="*/ 0 w 3502024"/>
              <a:gd name="connsiteY0" fmla="*/ 0 h 3997325"/>
              <a:gd name="connsiteX1" fmla="*/ 3502024 w 3502024"/>
              <a:gd name="connsiteY1" fmla="*/ 0 h 3997325"/>
              <a:gd name="connsiteX2" fmla="*/ 3502024 w 3502024"/>
              <a:gd name="connsiteY2" fmla="*/ 3997325 h 3997325"/>
              <a:gd name="connsiteX3" fmla="*/ 0 w 3502024"/>
              <a:gd name="connsiteY3" fmla="*/ 3997325 h 399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2024" h="3997325">
                <a:moveTo>
                  <a:pt x="0" y="0"/>
                </a:moveTo>
                <a:lnTo>
                  <a:pt x="3502024" y="0"/>
                </a:lnTo>
                <a:lnTo>
                  <a:pt x="3502024" y="3997325"/>
                </a:lnTo>
                <a:lnTo>
                  <a:pt x="0" y="39973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7E723-07CC-476D-81B1-838F253109D5}" type="datetimeFigureOut">
              <a:rPr lang="en-IN" smtClean="0"/>
              <a:t>23/03/26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.png"/><Relationship Id="rId4" Type="http://schemas.openxmlformats.org/officeDocument/2006/relationships/hyperlink" Target="https://github.com/sherlockdarwin/MinecraftDogstm32.git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10" Type="http://schemas.openxmlformats.org/officeDocument/2006/relationships/slide" Target="slide10.xml"/><Relationship Id="rId4" Type="http://schemas.openxmlformats.org/officeDocument/2006/relationships/image" Target="../media/image11.jpeg"/><Relationship Id="rId9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" Target="slide13.xml"/><Relationship Id="rId7" Type="http://schemas.openxmlformats.org/officeDocument/2006/relationships/image" Target="../media/image17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slide" Target="slide12.xml"/><Relationship Id="rId9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" Target="slide13.xml"/><Relationship Id="rId7" Type="http://schemas.openxmlformats.org/officeDocument/2006/relationships/image" Target="../media/image17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slide" Target="slide12.xml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" Target="slide13.xml"/><Relationship Id="rId7" Type="http://schemas.openxmlformats.org/officeDocument/2006/relationships/image" Target="../media/image3.png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4" Type="http://schemas.openxmlformats.org/officeDocument/2006/relationships/slide" Target="slide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slide" Target="slide13.xml"/><Relationship Id="rId7" Type="http://schemas.openxmlformats.org/officeDocument/2006/relationships/image" Target="../media/image21.png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image" Target="../media/image24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7" Type="http://schemas.openxmlformats.org/officeDocument/2006/relationships/image" Target="../media/image12.jpeg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slide" Target="sl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285750"/>
            <a:ext cx="15887700" cy="821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5087799" y="5757604"/>
            <a:ext cx="2184221" cy="731566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IN" sz="3200" b="1" dirty="0">
                <a:solidFill>
                  <a:schemeClr val="bg1"/>
                </a:solidFill>
                <a:latin typeface="Times New Roman" panose="02020603050405020304" charset="0"/>
                <a:ea typeface="微软雅黑" charset="-122"/>
                <a:cs typeface="Times New Roman" panose="02020603050405020304" charset="0"/>
              </a:rPr>
              <a:t>2025</a:t>
            </a: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660" y="5762367"/>
            <a:ext cx="2184218" cy="726803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en-US" altLang="en-IN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朱  希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565152" y="5563047"/>
            <a:ext cx="2609338" cy="2296012"/>
          </a:xfrm>
          <a:prstGeom prst="rect">
            <a:avLst/>
          </a:prstGeom>
          <a:effectLst>
            <a:outerShdw blurRad="444500" dist="38100" dir="8100000" algn="tr" rotWithShape="0">
              <a:prstClr val="black">
                <a:alpha val="79000"/>
              </a:prstClr>
            </a:outerShdw>
          </a:effectLst>
        </p:spPr>
      </p:pic>
      <p:grpSp>
        <p:nvGrpSpPr>
          <p:cNvPr id="5" name="组合 4"/>
          <p:cNvGrpSpPr/>
          <p:nvPr/>
        </p:nvGrpSpPr>
        <p:grpSpPr>
          <a:xfrm>
            <a:off x="1449956" y="800100"/>
            <a:ext cx="9934324" cy="3292579"/>
            <a:chOff x="4991" y="0"/>
            <a:chExt cx="15645" cy="5185"/>
          </a:xfrm>
        </p:grpSpPr>
        <p:pic>
          <p:nvPicPr>
            <p:cNvPr id="6" name="Picture 5" descr="A picture containing text, indoor, music, synthesizer&#10;&#10;Description automatically generated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1" y="0"/>
              <a:ext cx="9217" cy="5185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4919" y="1194"/>
              <a:ext cx="5717" cy="208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 algn="ctr"/>
              <a:r>
                <a:rPr lang="en-US" altLang="zh-CN" sz="8000" b="1" dirty="0">
                  <a:ln w="12700">
                    <a:solidFill>
                      <a:schemeClr val="accent3">
                        <a:lumMod val="50000"/>
                      </a:schemeClr>
                    </a:solidFill>
                    <a:prstDash val="solid"/>
                  </a:ln>
                  <a:pattFill prst="narHorz">
                    <a:fgClr>
                      <a:schemeClr val="accent3"/>
                    </a:fgClr>
                    <a:bgClr>
                      <a:schemeClr val="accent3">
                        <a:lumMod val="40000"/>
                        <a:lumOff val="60000"/>
                      </a:schemeClr>
                    </a:bgClr>
                  </a:pattFill>
                  <a:effectLst>
                    <a:innerShdw blurRad="177800">
                      <a:schemeClr val="accent3">
                        <a:lumMod val="50000"/>
                      </a:schemeClr>
                    </a:innerShdw>
                  </a:effectLst>
                  <a:latin typeface="Press Start 2P" panose="00000500000000000000" pitchFamily="2" charset="0"/>
                </a:rPr>
                <a:t>Dog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495"/>
    </mc:Choice>
    <mc:Fallback xmlns="">
      <p:transition spd="slow" advTm="1174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44444E-6 L -0.25 -4.44444E-6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8148E-6 L 2.5E-6 -0.25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18FC7"/>
                                      </p:to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18FC7"/>
                                      </p:to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4" grpId="0" bldLvl="0" animBg="1"/>
      <p:bldP spid="19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133600" y="4130674"/>
            <a:ext cx="7924800" cy="168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2133600" y="4130674"/>
            <a:ext cx="3962400" cy="168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A picture containing text, indoor, music, synthesizer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536" y="1027968"/>
            <a:ext cx="5852928" cy="32925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95500" y="4095750"/>
            <a:ext cx="8001000" cy="2381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2133600" y="4130675"/>
            <a:ext cx="1504950" cy="168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964921" y="481709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  <a:latin typeface="Press Start 2P" panose="00000500000000000000" pitchFamily="2" charset="0"/>
              </a:rPr>
              <a:t>Loading……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/>
          <p:cNvSpPr/>
          <p:nvPr/>
        </p:nvSpPr>
        <p:spPr>
          <a:xfrm>
            <a:off x="721980" y="1304544"/>
            <a:ext cx="10878212" cy="518154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/>
          <p:cNvSpPr/>
          <p:nvPr/>
        </p:nvSpPr>
        <p:spPr>
          <a:xfrm>
            <a:off x="4097019" y="266184"/>
            <a:ext cx="4128135" cy="733425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291646" y="371911"/>
            <a:ext cx="3738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IN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BACKGROUND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85061" y="7742296"/>
            <a:ext cx="2300287" cy="2024071"/>
          </a:xfrm>
          <a:prstGeom prst="rect">
            <a:avLst/>
          </a:prstGeom>
        </p:spPr>
      </p:pic>
      <p:pic>
        <p:nvPicPr>
          <p:cNvPr id="2" name="图片 1" descr="/Users/sherlockdarwin/Library/Containers/com.kingsoft.wpsoffice.mac/Data/tmp/picturecompress_20260322203134/output_1.pn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1506347"/>
            <a:ext cx="7346882" cy="477253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866775" y="7742296"/>
            <a:ext cx="2300287" cy="202407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1FB0FC8-14C1-2475-FC8A-7BD0657C4E3F}"/>
              </a:ext>
            </a:extLst>
          </p:cNvPr>
          <p:cNvSpPr txBox="1"/>
          <p:nvPr/>
        </p:nvSpPr>
        <p:spPr>
          <a:xfrm>
            <a:off x="8514600" y="1597152"/>
            <a:ext cx="2677656" cy="43749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项目背景</a:t>
            </a:r>
          </a:p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作者很喜欢游戏</a:t>
            </a:r>
            <a:r>
              <a:rPr lang="en-US" altLang="zh-CN" sz="3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Minecraft</a:t>
            </a:r>
            <a:endParaRPr lang="zh-CN" altLang="en-US" sz="32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11111E-6 L -4.58333E-6 -0.495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79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11111E-6 L -4.58333E-6 -0.495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/>
          <p:cNvSpPr/>
          <p:nvPr/>
        </p:nvSpPr>
        <p:spPr>
          <a:xfrm>
            <a:off x="439928" y="1182038"/>
            <a:ext cx="11656314" cy="5227349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/>
          <p:cNvSpPr/>
          <p:nvPr/>
        </p:nvSpPr>
        <p:spPr>
          <a:xfrm>
            <a:off x="3901439" y="275082"/>
            <a:ext cx="4388485" cy="733425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444681" y="448613"/>
            <a:ext cx="3302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IN" sz="28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  <a:sym typeface="+mn-ea"/>
              </a:rPr>
              <a:t>BASEMENT</a:t>
            </a:r>
            <a:r>
              <a:rPr lang="zh-CN" altLang="en-US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  <a:sym typeface="+mn-ea"/>
              </a:rPr>
              <a:t> </a:t>
            </a:r>
            <a:endParaRPr lang="en-IN" sz="32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 panose="020B060402020209020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866775" y="7742296"/>
            <a:ext cx="2300287" cy="202407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85061" y="7742296"/>
            <a:ext cx="2300287" cy="202407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2159C60-B5E7-581C-4390-75585C4AD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670" y="1391856"/>
            <a:ext cx="7402507" cy="48077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-383523" y="2303492"/>
            <a:ext cx="5795645" cy="3347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开始</a:t>
            </a:r>
          </a:p>
          <a:p>
            <a:pPr algn="ctr">
              <a:lnSpc>
                <a:spcPct val="150000"/>
              </a:lnSpc>
            </a:pPr>
            <a:r>
              <a:rPr lang="en-IN" sz="24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Arduino</a:t>
            </a:r>
            <a:r>
              <a:rPr lang="zh-CN" altLang="en-US" sz="24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uno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后来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STM32</a:t>
            </a:r>
          </a:p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  <a:sym typeface="+mn-ea"/>
              </a:rPr>
              <a:t>(F103RCT6)</a:t>
            </a:r>
            <a:endParaRPr lang="en-US" altLang="zh-CN" sz="24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(</a:t>
            </a:r>
            <a:r>
              <a:rPr lang="zh-CN" altLang="en-US" sz="24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满足多串口通讯和多中断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)</a:t>
            </a:r>
          </a:p>
          <a:p>
            <a:pPr algn="ctr">
              <a:lnSpc>
                <a:spcPct val="150000"/>
              </a:lnSpc>
            </a:pPr>
            <a:endParaRPr lang="en-IN" sz="28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11111E-6 L -4.58333E-6 -0.495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792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11111E-6 L -4.58333E-6 -0.495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/>
          <p:cNvSpPr/>
          <p:nvPr/>
        </p:nvSpPr>
        <p:spPr>
          <a:xfrm>
            <a:off x="463296" y="1816608"/>
            <a:ext cx="11122051" cy="440131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/>
          <p:cNvSpPr/>
          <p:nvPr/>
        </p:nvSpPr>
        <p:spPr>
          <a:xfrm>
            <a:off x="4031931" y="640080"/>
            <a:ext cx="4128135" cy="733425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582158" y="742375"/>
            <a:ext cx="3027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IN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FUNCTION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866775" y="7742296"/>
            <a:ext cx="2300287" cy="20240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0765" y="2461017"/>
            <a:ext cx="3504305" cy="3453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90000"/>
              </a:lnSpc>
            </a:pPr>
            <a:r>
              <a:rPr lang="zh-CN" altLang="en-US" sz="3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追踪脚步实时紧跟</a:t>
            </a:r>
            <a:endParaRPr lang="en-US" altLang="zh-CN" sz="32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  <a:p>
            <a:pPr algn="ctr">
              <a:lnSpc>
                <a:spcPct val="190000"/>
              </a:lnSpc>
            </a:pPr>
            <a:r>
              <a:rPr lang="zh-CN" altLang="en-US" sz="3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喂食声效</a:t>
            </a:r>
            <a:endParaRPr lang="en-US" altLang="zh-CN" sz="32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  <a:p>
            <a:pPr algn="ctr">
              <a:lnSpc>
                <a:spcPct val="190000"/>
              </a:lnSpc>
            </a:pPr>
            <a:r>
              <a:rPr lang="zh-CN" altLang="en-US" sz="3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回答简单问题交互</a:t>
            </a:r>
            <a:endParaRPr lang="en-US" altLang="zh-CN" sz="32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  <a:p>
            <a:pPr algn="ctr">
              <a:lnSpc>
                <a:spcPct val="150000"/>
              </a:lnSpc>
            </a:pPr>
            <a:endParaRPr lang="en-IN" sz="32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85061" y="7742296"/>
            <a:ext cx="2300287" cy="202407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4DBAEB9-46B5-ABB6-2233-D06F3DA75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275" y="2120698"/>
            <a:ext cx="6918960" cy="37935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11111E-6 L -4.58333E-6 -0.495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792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11111E-6 L -4.58333E-6 -0.495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/>
          <p:cNvSpPr/>
          <p:nvPr/>
        </p:nvSpPr>
        <p:spPr>
          <a:xfrm>
            <a:off x="4031932" y="551871"/>
            <a:ext cx="4128135" cy="733425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46909" y="656806"/>
            <a:ext cx="26981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IN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PROCESS</a:t>
            </a:r>
          </a:p>
        </p:txBody>
      </p:sp>
      <p:sp>
        <p:nvSpPr>
          <p:cNvPr id="4" name="Rectangle: Rounded Corners 18"/>
          <p:cNvSpPr/>
          <p:nvPr/>
        </p:nvSpPr>
        <p:spPr>
          <a:xfrm>
            <a:off x="520861" y="1594225"/>
            <a:ext cx="11412638" cy="486444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26" y="1675349"/>
            <a:ext cx="11071789" cy="3510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16"/>
          <p:cNvSpPr txBox="1"/>
          <p:nvPr/>
        </p:nvSpPr>
        <p:spPr>
          <a:xfrm>
            <a:off x="690726" y="5392511"/>
            <a:ext cx="11161750" cy="808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90000"/>
              </a:lnSpc>
            </a:pP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代码已开源在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GitHub</a:t>
            </a:r>
          </a:p>
          <a:p>
            <a:pPr algn="ctr">
              <a:lnSpc>
                <a:spcPct val="190000"/>
              </a:lnSpc>
            </a:pP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  <a:hlinkClick r:id="rId4"/>
              </a:rPr>
              <a:t>https://github.com/sherlockdarwin/MinecraftDogstm32.git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endParaRPr lang="en-IN" sz="14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727875" y="7325603"/>
            <a:ext cx="2300287" cy="202407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85061" y="7325603"/>
            <a:ext cx="2300287" cy="202407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11111E-6 L -4.58333E-6 -0.495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79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11111E-6 L -4.58333E-6 -0.495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79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70970" y="925365"/>
            <a:ext cx="4650057" cy="658108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4157010" y="1053584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Dog’s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altLang="zh-C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appearance</a:t>
            </a:r>
            <a:endParaRPr lang="en-IN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4" name="Rectangle: Rounded Corners 3"/>
          <p:cNvSpPr/>
          <p:nvPr/>
        </p:nvSpPr>
        <p:spPr>
          <a:xfrm>
            <a:off x="449033" y="1942645"/>
            <a:ext cx="3551467" cy="4043922"/>
          </a:xfrm>
          <a:prstGeom prst="roundRect">
            <a:avLst>
              <a:gd name="adj" fmla="val 0"/>
            </a:avLst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/>
          <p:cNvSpPr/>
          <p:nvPr/>
        </p:nvSpPr>
        <p:spPr>
          <a:xfrm>
            <a:off x="473754" y="1965944"/>
            <a:ext cx="3502024" cy="399732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/>
          <p:cNvSpPr/>
          <p:nvPr/>
        </p:nvSpPr>
        <p:spPr>
          <a:xfrm>
            <a:off x="4320267" y="1942645"/>
            <a:ext cx="3551467" cy="4043922"/>
          </a:xfrm>
          <a:prstGeom prst="roundRect">
            <a:avLst>
              <a:gd name="adj" fmla="val 0"/>
            </a:avLst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/>
          <p:cNvSpPr/>
          <p:nvPr/>
        </p:nvSpPr>
        <p:spPr>
          <a:xfrm>
            <a:off x="4344988" y="1965944"/>
            <a:ext cx="3502024" cy="399732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/>
          <p:cNvSpPr/>
          <p:nvPr/>
        </p:nvSpPr>
        <p:spPr>
          <a:xfrm>
            <a:off x="8166779" y="1942645"/>
            <a:ext cx="3551467" cy="4043922"/>
          </a:xfrm>
          <a:prstGeom prst="roundRect">
            <a:avLst>
              <a:gd name="adj" fmla="val 0"/>
            </a:avLst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/>
          <p:cNvSpPr/>
          <p:nvPr/>
        </p:nvSpPr>
        <p:spPr>
          <a:xfrm>
            <a:off x="8191500" y="1965944"/>
            <a:ext cx="3502024" cy="399732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Placeholder 16" descr="/Users/sherlockdarwin/xmu/new student discuss/MinecraftDog/素材/IMG_7189.pngIMG_7189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199" b="7199"/>
          <a:stretch>
            <a:fillRect/>
          </a:stretch>
        </p:blipFill>
        <p:spPr>
          <a:xfrm>
            <a:off x="473754" y="1965945"/>
            <a:ext cx="3502024" cy="3997325"/>
          </a:xfrm>
        </p:spPr>
      </p:pic>
      <p:pic>
        <p:nvPicPr>
          <p:cNvPr id="19" name="Picture Placeholder 18"/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5" r="6195"/>
          <a:stretch>
            <a:fillRect/>
          </a:stretch>
        </p:blipFill>
        <p:spPr>
          <a:xfrm>
            <a:off x="4344988" y="1965945"/>
            <a:ext cx="3502024" cy="3997325"/>
          </a:xfrm>
        </p:spPr>
      </p:pic>
      <p:pic>
        <p:nvPicPr>
          <p:cNvPr id="21" name="Picture Placeholder 20"/>
          <p:cNvPicPr>
            <a:picLocks noGrp="1" noChangeAspect="1"/>
          </p:cNvPicPr>
          <p:nvPr>
            <p:ph type="pic" sz="quarter" idx="1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62" r="17162"/>
          <a:stretch>
            <a:fillRect/>
          </a:stretch>
        </p:blipFill>
        <p:spPr>
          <a:xfrm>
            <a:off x="8191500" y="1965945"/>
            <a:ext cx="3502024" cy="3997325"/>
          </a:xfrm>
        </p:spPr>
      </p:pic>
      <p:pic>
        <p:nvPicPr>
          <p:cNvPr id="13" name="Picture 12" descr="A picture containing text, clipart&#10;&#10;Description automatically generated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759" y="975255"/>
            <a:ext cx="528939" cy="528939"/>
          </a:xfrm>
          <a:prstGeom prst="rect">
            <a:avLst/>
          </a:prstGeom>
        </p:spPr>
      </p:pic>
      <p:pic>
        <p:nvPicPr>
          <p:cNvPr id="18" name="Picture 17" descr="Qr code&#10;&#10;Description automatically generated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300" y="974272"/>
            <a:ext cx="528939" cy="529922"/>
          </a:xfrm>
          <a:prstGeom prst="rect">
            <a:avLst/>
          </a:prstGeom>
        </p:spPr>
      </p:pic>
      <p:sp>
        <p:nvSpPr>
          <p:cNvPr id="23" name="TextBox 22">
            <a:hlinkClick r:id="rId8" action="ppaction://hlinksldjump"/>
          </p:cNvPr>
          <p:cNvSpPr txBox="1"/>
          <p:nvPr/>
        </p:nvSpPr>
        <p:spPr>
          <a:xfrm>
            <a:off x="593549" y="6176242"/>
            <a:ext cx="3262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Upper View</a:t>
            </a:r>
            <a:endParaRPr lang="en-IN" sz="24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25" name="TextBox 24">
            <a:hlinkClick r:id="rId9" action="ppaction://hlinksldjump"/>
          </p:cNvPr>
          <p:cNvSpPr txBox="1"/>
          <p:nvPr/>
        </p:nvSpPr>
        <p:spPr>
          <a:xfrm>
            <a:off x="4464785" y="6176243"/>
            <a:ext cx="3262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Front</a:t>
            </a:r>
            <a:r>
              <a:rPr lang="zh-CN" altLang="en-US" sz="24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View</a:t>
            </a:r>
            <a:endParaRPr lang="en-IN" sz="24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26" name="TextBox 25">
            <a:hlinkClick r:id="rId10" action="ppaction://hlinksldjump"/>
          </p:cNvPr>
          <p:cNvSpPr txBox="1"/>
          <p:nvPr/>
        </p:nvSpPr>
        <p:spPr>
          <a:xfrm>
            <a:off x="8465184" y="6176243"/>
            <a:ext cx="2954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Down</a:t>
            </a:r>
            <a:r>
              <a:rPr lang="zh-CN" altLang="en-US" sz="24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View</a:t>
            </a:r>
            <a:endParaRPr lang="en-IN" sz="24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ress Start 2P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repeatCount="2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5" presetClass="entr" presetSubtype="0" repeatCount="2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3951968" y="2079356"/>
            <a:ext cx="2084162" cy="733634"/>
            <a:chOff x="3951968" y="2079356"/>
            <a:chExt cx="2084162" cy="733634"/>
          </a:xfrm>
        </p:grpSpPr>
        <p:sp>
          <p:nvSpPr>
            <p:cNvPr id="7" name="Rectangle: Rounded Corners 6">
              <a:hlinkClick r:id="rId2" action="ppaction://hlinksldjump"/>
            </p:cNvPr>
            <p:cNvSpPr/>
            <p:nvPr/>
          </p:nvSpPr>
          <p:spPr>
            <a:xfrm>
              <a:off x="3951968" y="2079356"/>
              <a:ext cx="2084162" cy="733634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bg1">
                    <a:lumMod val="65000"/>
                  </a:schemeClr>
                </a:gs>
                <a:gs pos="5500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34007" y="2110633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rgbClr val="D9D9D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ress Start 2P" panose="00000500000000000000" pitchFamily="2" charset="0"/>
                </a:rPr>
                <a:t>喂</a:t>
              </a:r>
              <a:r>
                <a:rPr lang="zh-CN" altLang="en-US" sz="2400" b="1" dirty="0">
                  <a:solidFill>
                    <a:srgbClr val="D9D9D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ress Start 2P" panose="00000500000000000000" pitchFamily="2" charset="0"/>
                </a:rPr>
                <a:t> </a:t>
              </a:r>
              <a:r>
                <a:rPr lang="en-US" sz="2400" b="1" dirty="0" err="1">
                  <a:solidFill>
                    <a:srgbClr val="D9D9D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ress Start 2P" panose="00000500000000000000" pitchFamily="2" charset="0"/>
                </a:rPr>
                <a:t>食</a:t>
              </a:r>
              <a:endParaRPr lang="en-IN" sz="2400" b="1" dirty="0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endParaRPr>
            </a:p>
          </p:txBody>
        </p:sp>
      </p:grpSp>
      <p:sp>
        <p:nvSpPr>
          <p:cNvPr id="8" name="Rectangle: Rounded Corners 7">
            <a:hlinkClick r:id="rId3" action="ppaction://hlinksldjump"/>
          </p:cNvPr>
          <p:cNvSpPr/>
          <p:nvPr/>
        </p:nvSpPr>
        <p:spPr>
          <a:xfrm>
            <a:off x="8359775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hlinkClick r:id="rId4" action="ppaction://hlinksldjump"/>
          </p:cNvPr>
          <p:cNvSpPr/>
          <p:nvPr/>
        </p:nvSpPr>
        <p:spPr>
          <a:xfrm>
            <a:off x="6155872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/>
          <p:cNvSpPr/>
          <p:nvPr/>
        </p:nvSpPr>
        <p:spPr>
          <a:xfrm>
            <a:off x="1294039" y="2628324"/>
            <a:ext cx="9603922" cy="3438422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D9D9D9"/>
              </a:gs>
              <a:gs pos="84000">
                <a:srgbClr val="ADADAD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/>
          <p:cNvSpPr/>
          <p:nvPr/>
        </p:nvSpPr>
        <p:spPr>
          <a:xfrm>
            <a:off x="4184649" y="871432"/>
            <a:ext cx="3822700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4503259" y="1053583"/>
            <a:ext cx="318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HOW TO MAKE ?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1748064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D9D9D9"/>
              </a:gs>
              <a:gs pos="0">
                <a:srgbClr val="ADADAD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2221000" y="210636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追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I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踪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89978" y="2100323"/>
            <a:ext cx="141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 err="1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语言交互</a:t>
            </a:r>
            <a:endParaRPr lang="en-IN" sz="2400" b="1" dirty="0">
              <a:solidFill>
                <a:srgbClr val="D9D9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93969" y="2097673"/>
            <a:ext cx="141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 err="1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电机马达</a:t>
            </a:r>
            <a:endParaRPr lang="en-IN" sz="2400" b="1" dirty="0">
              <a:solidFill>
                <a:srgbClr val="D9D9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48063" y="2911485"/>
            <a:ext cx="6611712" cy="95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用了open</a:t>
            </a: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I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MV摄像头对我的鞋后跟识别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，通过串口传输到芯片上，在代码指挥下停止或者前进加减速左右转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pic>
        <p:nvPicPr>
          <p:cNvPr id="39" name="Picture 38" descr="A picture containing container, square&#10;&#10;Description automatically generated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274" y="7771493"/>
            <a:ext cx="1747837" cy="1747837"/>
          </a:xfrm>
          <a:prstGeom prst="rect">
            <a:avLst/>
          </a:prstGeom>
        </p:spPr>
      </p:pic>
      <p:pic>
        <p:nvPicPr>
          <p:cNvPr id="23" name="Picture 22" descr="A picture containing text&#10;&#10;Description automatically generated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349" y="5482751"/>
            <a:ext cx="3496042" cy="3496042"/>
          </a:xfrm>
          <a:prstGeom prst="rect">
            <a:avLst/>
          </a:prstGeom>
        </p:spPr>
      </p:pic>
      <p:pic>
        <p:nvPicPr>
          <p:cNvPr id="25" name="Picture 24" descr="Chart&#10;&#10;Description automatically generated with medium confidenc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91028">
            <a:off x="8241577" y="6303837"/>
            <a:ext cx="1038168" cy="1038168"/>
          </a:xfrm>
          <a:prstGeom prst="rect">
            <a:avLst/>
          </a:prstGeom>
        </p:spPr>
      </p:pic>
      <p:pic>
        <p:nvPicPr>
          <p:cNvPr id="40" name="Picture 39" descr="A picture containing container, square&#10;&#10;Description automatically generated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500" y="8264910"/>
            <a:ext cx="1262339" cy="1262339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56032" y="7660269"/>
            <a:ext cx="1114548" cy="980714"/>
          </a:xfrm>
          <a:prstGeom prst="rect">
            <a:avLst/>
          </a:prstGeom>
        </p:spPr>
      </p:pic>
      <p:pic>
        <p:nvPicPr>
          <p:cNvPr id="10" name="图片 9" descr="图片包含 桌子, 建筑, 木, 男人&#10;&#10;AI 生成的内容可能不正确。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2" t="12223" r="47934" b="60197"/>
          <a:stretch>
            <a:fillRect/>
          </a:stretch>
        </p:blipFill>
        <p:spPr>
          <a:xfrm>
            <a:off x="1920875" y="3988367"/>
            <a:ext cx="4317892" cy="1816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1.85185E-6 L -2.08333E-7 -0.41088 " pathEditMode="relative" rAng="0" ptsTypes="AA">
                                      <p:cBhvr>
                                        <p:cTn id="11" dur="2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2.59259E-6 L 2.08333E-7 -0.41088 " pathEditMode="relative" rAng="0" ptsTypes="AA">
                                      <p:cBhvr>
                                        <p:cTn id="13" dur="2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4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08333E-7 3.33333E-6 L 2.08333E-7 -0.41088 " pathEditMode="relative" rAng="0" ptsTypes="AA">
                                      <p:cBhvr>
                                        <p:cTn id="15" dur="2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4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16667E-7 -7.40741E-7 L 4.16667E-7 -0.41088 " pathEditMode="relative" rAng="0" ptsTypes="AA">
                                      <p:cBhvr>
                                        <p:cTn id="17" dur="2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1.66667E-6 -2.59259E-6 L -1.66667E-6 -0.41088 " pathEditMode="relative" rAng="0" ptsTypes="AA">
                                      <p:cBhvr>
                                        <p:cTn id="19" dur="2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3951968" y="2079356"/>
            <a:ext cx="2084162" cy="733634"/>
            <a:chOff x="3951968" y="2079356"/>
            <a:chExt cx="2084162" cy="733634"/>
          </a:xfrm>
        </p:grpSpPr>
        <p:sp>
          <p:nvSpPr>
            <p:cNvPr id="7" name="Rectangle: Rounded Corners 6">
              <a:hlinkClick r:id="rId2" action="ppaction://hlinksldjump"/>
            </p:cNvPr>
            <p:cNvSpPr/>
            <p:nvPr/>
          </p:nvSpPr>
          <p:spPr>
            <a:xfrm>
              <a:off x="3951968" y="2079356"/>
              <a:ext cx="2084162" cy="733634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bg1">
                    <a:lumMod val="65000"/>
                  </a:schemeClr>
                </a:gs>
                <a:gs pos="5500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34007" y="2110633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rgbClr val="D9D9D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ress Start 2P" panose="00000500000000000000" pitchFamily="2" charset="0"/>
                </a:rPr>
                <a:t>喂</a:t>
              </a:r>
              <a:r>
                <a:rPr lang="zh-CN" altLang="en-US" sz="2400" b="1" dirty="0">
                  <a:solidFill>
                    <a:srgbClr val="D9D9D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ress Start 2P" panose="00000500000000000000" pitchFamily="2" charset="0"/>
                </a:rPr>
                <a:t> </a:t>
              </a:r>
              <a:r>
                <a:rPr lang="en-US" sz="2400" b="1" dirty="0" err="1">
                  <a:solidFill>
                    <a:srgbClr val="D9D9D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ress Start 2P" panose="00000500000000000000" pitchFamily="2" charset="0"/>
                </a:rPr>
                <a:t>食</a:t>
              </a:r>
              <a:endParaRPr lang="en-IN" sz="2400" b="1" dirty="0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endParaRPr>
            </a:p>
          </p:txBody>
        </p:sp>
      </p:grpSp>
      <p:sp>
        <p:nvSpPr>
          <p:cNvPr id="8" name="Rectangle: Rounded Corners 7">
            <a:hlinkClick r:id="rId3" action="ppaction://hlinksldjump"/>
          </p:cNvPr>
          <p:cNvSpPr/>
          <p:nvPr/>
        </p:nvSpPr>
        <p:spPr>
          <a:xfrm>
            <a:off x="8359775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hlinkClick r:id="rId4" action="ppaction://hlinksldjump"/>
          </p:cNvPr>
          <p:cNvSpPr/>
          <p:nvPr/>
        </p:nvSpPr>
        <p:spPr>
          <a:xfrm>
            <a:off x="6155872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/>
          <p:cNvSpPr/>
          <p:nvPr/>
        </p:nvSpPr>
        <p:spPr>
          <a:xfrm>
            <a:off x="1294039" y="2628324"/>
            <a:ext cx="9603922" cy="3438422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D9D9D9"/>
              </a:gs>
              <a:gs pos="84000">
                <a:srgbClr val="ADADAD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/>
          <p:cNvSpPr/>
          <p:nvPr/>
        </p:nvSpPr>
        <p:spPr>
          <a:xfrm>
            <a:off x="4184649" y="871432"/>
            <a:ext cx="3822700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4503259" y="1053583"/>
            <a:ext cx="318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HOW TO MAKE ?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1748064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D9D9D9"/>
              </a:gs>
              <a:gs pos="0">
                <a:srgbClr val="ADADAD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2221000" y="210636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追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I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踪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89978" y="2100323"/>
            <a:ext cx="141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 err="1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语言交互</a:t>
            </a:r>
            <a:endParaRPr lang="en-IN" sz="2400" b="1" dirty="0">
              <a:solidFill>
                <a:srgbClr val="D9D9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53210" y="2641911"/>
            <a:ext cx="3634739" cy="1285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edge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impulse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网站上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训练的模型用于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open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MV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摄像头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pic>
        <p:nvPicPr>
          <p:cNvPr id="39" name="Picture 38" descr="A picture containing container, square&#10;&#10;Description automatically generated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274" y="7771493"/>
            <a:ext cx="1747837" cy="1747837"/>
          </a:xfrm>
          <a:prstGeom prst="rect">
            <a:avLst/>
          </a:prstGeom>
        </p:spPr>
      </p:pic>
      <p:pic>
        <p:nvPicPr>
          <p:cNvPr id="23" name="Picture 22" descr="A picture containing text&#10;&#10;Description automatically generated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306" y="6133082"/>
            <a:ext cx="2612283" cy="2612283"/>
          </a:xfrm>
          <a:prstGeom prst="rect">
            <a:avLst/>
          </a:prstGeom>
        </p:spPr>
      </p:pic>
      <p:pic>
        <p:nvPicPr>
          <p:cNvPr id="25" name="Picture 24" descr="Chart&#10;&#10;Description automatically generated with medium confidenc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91028">
            <a:off x="8576795" y="6723653"/>
            <a:ext cx="789403" cy="789403"/>
          </a:xfrm>
          <a:prstGeom prst="rect">
            <a:avLst/>
          </a:prstGeom>
        </p:spPr>
      </p:pic>
      <p:pic>
        <p:nvPicPr>
          <p:cNvPr id="40" name="Picture 39" descr="A picture containing container, square&#10;&#10;Description automatically generated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500" y="8264910"/>
            <a:ext cx="1262339" cy="1262339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56032" y="7660269"/>
            <a:ext cx="1114548" cy="9807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rcRect l="16614" t="11385" b="12816"/>
          <a:stretch>
            <a:fillRect/>
          </a:stretch>
        </p:blipFill>
        <p:spPr>
          <a:xfrm>
            <a:off x="1413511" y="2688621"/>
            <a:ext cx="5591062" cy="32979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3"/>
          <p:cNvSpPr txBox="1"/>
          <p:nvPr/>
        </p:nvSpPr>
        <p:spPr>
          <a:xfrm>
            <a:off x="8693969" y="2097673"/>
            <a:ext cx="141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 err="1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电机马达</a:t>
            </a:r>
            <a:endParaRPr lang="en-IN" sz="2400" b="1" dirty="0">
              <a:solidFill>
                <a:srgbClr val="D9D9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22222E-6 L 4.58333E-6 -0.41088 " pathEditMode="relative" rAng="0" ptsTypes="AA">
                                      <p:cBhvr>
                                        <p:cTn id="11" dur="2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2.96296E-6 L 2.70833E-6 -0.41088 " pathEditMode="relative" rAng="0" ptsTypes="AA">
                                      <p:cBhvr>
                                        <p:cTn id="13" dur="2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4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08333E-7 3.33333E-6 L 2.08333E-7 -0.41088 " pathEditMode="relative" rAng="0" ptsTypes="AA">
                                      <p:cBhvr>
                                        <p:cTn id="15" dur="2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4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16667E-7 -7.40741E-7 L 4.16667E-7 -0.41088 " pathEditMode="relative" rAng="0" ptsTypes="AA">
                                      <p:cBhvr>
                                        <p:cTn id="17" dur="2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1.66667E-6 -2.59259E-6 L -1.66667E-6 -0.41088 " pathEditMode="relative" rAng="0" ptsTypes="AA">
                                      <p:cBhvr>
                                        <p:cTn id="19" dur="2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hlinkClick r:id="rId2" action="ppaction://hlinksldjump"/>
          </p:cNvPr>
          <p:cNvSpPr/>
          <p:nvPr/>
        </p:nvSpPr>
        <p:spPr>
          <a:xfrm>
            <a:off x="1748064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hlinkClick r:id="rId3" action="ppaction://hlinksldjump"/>
          </p:cNvPr>
          <p:cNvSpPr/>
          <p:nvPr/>
        </p:nvSpPr>
        <p:spPr>
          <a:xfrm>
            <a:off x="8359775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hlinkClick r:id="rId4" action="ppaction://hlinksldjump"/>
          </p:cNvPr>
          <p:cNvSpPr/>
          <p:nvPr/>
        </p:nvSpPr>
        <p:spPr>
          <a:xfrm>
            <a:off x="6155872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/>
          <p:cNvSpPr/>
          <p:nvPr/>
        </p:nvSpPr>
        <p:spPr>
          <a:xfrm>
            <a:off x="1294039" y="2628324"/>
            <a:ext cx="9603922" cy="3438422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D9D9D9"/>
              </a:gs>
              <a:gs pos="84000">
                <a:srgbClr val="ADADAD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/>
          <p:cNvSpPr/>
          <p:nvPr/>
        </p:nvSpPr>
        <p:spPr>
          <a:xfrm>
            <a:off x="4184649" y="871432"/>
            <a:ext cx="3822700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4503259" y="1053583"/>
            <a:ext cx="318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HOW TO MAKE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0349" y="2688621"/>
            <a:ext cx="5755323" cy="95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通过霍尔传感器和JQ6500语音模块串通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，当接收到霍尔传感器的信息，播放吃东西的音频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3951968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D9D9D9"/>
              </a:gs>
              <a:gs pos="0">
                <a:srgbClr val="ADADAD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4434007" y="210636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喂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食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pic>
        <p:nvPicPr>
          <p:cNvPr id="32" name="Picture 31" descr="A picture containing container, square&#10;&#10;Description automatically generated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5075" y="7771493"/>
            <a:ext cx="1747837" cy="1747837"/>
          </a:xfrm>
          <a:prstGeom prst="rect">
            <a:avLst/>
          </a:prstGeom>
        </p:spPr>
      </p:pic>
      <p:pic>
        <p:nvPicPr>
          <p:cNvPr id="34" name="Picture 33" descr="A picture containing container, square&#10;&#10;Description automatically generated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301" y="8264910"/>
            <a:ext cx="1262339" cy="1262339"/>
          </a:xfrm>
          <a:prstGeom prst="rect">
            <a:avLst/>
          </a:prstGeom>
        </p:spPr>
      </p:pic>
      <p:pic>
        <p:nvPicPr>
          <p:cNvPr id="24" name="Picture 23" descr="A picture containing toy&#10;&#10;Description automatically generated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366" y="6075661"/>
            <a:ext cx="2537200" cy="2222587"/>
          </a:xfrm>
          <a:prstGeom prst="rect">
            <a:avLst/>
          </a:prstGeom>
        </p:spPr>
      </p:pic>
      <p:sp>
        <p:nvSpPr>
          <p:cNvPr id="5" name="TextBox 10"/>
          <p:cNvSpPr txBox="1"/>
          <p:nvPr/>
        </p:nvSpPr>
        <p:spPr>
          <a:xfrm>
            <a:off x="2221000" y="210636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defRPr>
            </a:lvl1pPr>
          </a:lstStyle>
          <a:p>
            <a:r>
              <a:rPr lang="en-IN" sz="2400" b="1" dirty="0" err="1"/>
              <a:t>追</a:t>
            </a:r>
            <a:r>
              <a:rPr lang="zh-CN" altLang="en-US" sz="2400" b="1" dirty="0"/>
              <a:t> </a:t>
            </a:r>
            <a:r>
              <a:rPr lang="en-IN" sz="2400" b="1" dirty="0" err="1"/>
              <a:t>踪</a:t>
            </a:r>
            <a:endParaRPr lang="en-IN" sz="2400" b="1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44904" y="7648886"/>
            <a:ext cx="1123939" cy="988977"/>
          </a:xfrm>
          <a:prstGeom prst="rect">
            <a:avLst/>
          </a:prstGeom>
        </p:spPr>
      </p:pic>
      <p:pic>
        <p:nvPicPr>
          <p:cNvPr id="21" name="图片 20" descr="桌子上的电脑&#10;&#10;AI 生成的内容可能不正确。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349" y="3644908"/>
            <a:ext cx="5350511" cy="23574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TextBox 12"/>
          <p:cNvSpPr txBox="1"/>
          <p:nvPr/>
        </p:nvSpPr>
        <p:spPr>
          <a:xfrm>
            <a:off x="6489978" y="2100323"/>
            <a:ext cx="141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 err="1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语言交互</a:t>
            </a:r>
            <a:endParaRPr lang="en-IN" sz="2400" b="1" dirty="0">
              <a:solidFill>
                <a:srgbClr val="D9D9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26" name="TextBox 13"/>
          <p:cNvSpPr txBox="1"/>
          <p:nvPr/>
        </p:nvSpPr>
        <p:spPr>
          <a:xfrm>
            <a:off x="8693969" y="2097673"/>
            <a:ext cx="141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 err="1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电机马达</a:t>
            </a:r>
            <a:endParaRPr lang="en-IN" sz="2400" b="1" dirty="0">
              <a:solidFill>
                <a:srgbClr val="D9D9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33333E-6 L -4.16667E-6 -0.41088 " pathEditMode="relative" rAng="0" ptsTypes="AA">
                                      <p:cBhvr>
                                        <p:cTn id="11" dur="2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4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1.04167E-6 3.33333E-6 L 1.04167E-6 -0.41088 " pathEditMode="relative" rAng="0" ptsTypes="AA">
                                      <p:cBhvr>
                                        <p:cTn id="13" dur="2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4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04167E-6 -7.40741E-7 L 1.04167E-6 -0.41088 " pathEditMode="relative" rAng="0" ptsTypes="AA">
                                      <p:cBhvr>
                                        <p:cTn id="15" dur="2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1.04167E-6 -2.59259E-6 L -1.04167E-6 -0.41088 " pathEditMode="relative" rAng="0" ptsTypes="AA">
                                      <p:cBhvr>
                                        <p:cTn id="17" dur="2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hlinkClick r:id="rId2" action="ppaction://hlinksldjump"/>
          </p:cNvPr>
          <p:cNvSpPr/>
          <p:nvPr/>
        </p:nvSpPr>
        <p:spPr>
          <a:xfrm>
            <a:off x="1748064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hlinkClick r:id="rId3" action="ppaction://hlinksldjump"/>
          </p:cNvPr>
          <p:cNvSpPr/>
          <p:nvPr/>
        </p:nvSpPr>
        <p:spPr>
          <a:xfrm>
            <a:off x="8359775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hlinkClick r:id="rId4" action="ppaction://hlinksldjump"/>
          </p:cNvPr>
          <p:cNvSpPr/>
          <p:nvPr/>
        </p:nvSpPr>
        <p:spPr>
          <a:xfrm>
            <a:off x="6155872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/>
          <p:cNvSpPr/>
          <p:nvPr/>
        </p:nvSpPr>
        <p:spPr>
          <a:xfrm>
            <a:off x="1294039" y="2628324"/>
            <a:ext cx="9603922" cy="3438422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D9D9D9"/>
              </a:gs>
              <a:gs pos="84000">
                <a:srgbClr val="ADADAD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/>
          <p:cNvSpPr/>
          <p:nvPr/>
        </p:nvSpPr>
        <p:spPr>
          <a:xfrm>
            <a:off x="4184649" y="871432"/>
            <a:ext cx="3822700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4503259" y="1053583"/>
            <a:ext cx="318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HOW TO MAKE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6282" y="2653952"/>
            <a:ext cx="4772068" cy="49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霍尔传感器放在鼻子里，食物顶部粘磁铁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3951968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D9D9D9"/>
              </a:gs>
              <a:gs pos="0">
                <a:srgbClr val="ADADAD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4434007" y="210636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喂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食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pic>
        <p:nvPicPr>
          <p:cNvPr id="34" name="Picture 33" descr="A picture containing container, square&#10;&#10;Description automatically generated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858" y="8264910"/>
            <a:ext cx="1262339" cy="1262339"/>
          </a:xfrm>
          <a:prstGeom prst="rect">
            <a:avLst/>
          </a:prstGeom>
        </p:spPr>
      </p:pic>
      <p:sp>
        <p:nvSpPr>
          <p:cNvPr id="5" name="TextBox 10"/>
          <p:cNvSpPr txBox="1"/>
          <p:nvPr/>
        </p:nvSpPr>
        <p:spPr>
          <a:xfrm>
            <a:off x="2221000" y="210636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defRPr>
            </a:lvl1pPr>
          </a:lstStyle>
          <a:p>
            <a:r>
              <a:rPr lang="en-IN" sz="2400" b="1" dirty="0" err="1"/>
              <a:t>追</a:t>
            </a:r>
            <a:r>
              <a:rPr lang="zh-CN" altLang="en-US" sz="2400" b="1" dirty="0"/>
              <a:t> </a:t>
            </a:r>
            <a:r>
              <a:rPr lang="en-IN" sz="2400" b="1" dirty="0" err="1"/>
              <a:t>踪</a:t>
            </a:r>
            <a:endParaRPr lang="en-IN" sz="2400" b="1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13031" y="7648886"/>
            <a:ext cx="1123939" cy="988977"/>
          </a:xfrm>
          <a:prstGeom prst="rect">
            <a:avLst/>
          </a:prstGeom>
        </p:spPr>
      </p:pic>
      <p:pic>
        <p:nvPicPr>
          <p:cNvPr id="11" name="图片 10" descr="桌子上的电脑和键盘&#10;&#10;AI 生成的内容可能不正确。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0" t="15205" b="17501"/>
          <a:stretch>
            <a:fillRect/>
          </a:stretch>
        </p:blipFill>
        <p:spPr>
          <a:xfrm>
            <a:off x="1428750" y="2734271"/>
            <a:ext cx="3325588" cy="3252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图片 16" descr="手拿键盘在桌子上&#10;&#10;AI 生成的内容可能不正确。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 b="15354"/>
          <a:stretch>
            <a:fillRect/>
          </a:stretch>
        </p:blipFill>
        <p:spPr>
          <a:xfrm>
            <a:off x="4889049" y="3287280"/>
            <a:ext cx="3564007" cy="2653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TextBox 12"/>
          <p:cNvSpPr txBox="1"/>
          <p:nvPr/>
        </p:nvSpPr>
        <p:spPr>
          <a:xfrm>
            <a:off x="6489978" y="2100323"/>
            <a:ext cx="141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 err="1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语言交互</a:t>
            </a:r>
            <a:endParaRPr lang="en-IN" sz="2400" b="1" dirty="0">
              <a:solidFill>
                <a:srgbClr val="D9D9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19" name="TextBox 13"/>
          <p:cNvSpPr txBox="1"/>
          <p:nvPr/>
        </p:nvSpPr>
        <p:spPr>
          <a:xfrm>
            <a:off x="8693969" y="2097673"/>
            <a:ext cx="141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 err="1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电机马达</a:t>
            </a:r>
            <a:endParaRPr lang="en-IN" sz="2400" b="1" dirty="0">
              <a:solidFill>
                <a:srgbClr val="D9D9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4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54167E-6 -7.40741E-7 L 3.54167E-6 -0.41088 " pathEditMode="relative" rAng="0" ptsTypes="AA">
                                      <p:cBhvr>
                                        <p:cTn id="11" dur="2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1.25E-6 1.48148E-6 L -1.25E-6 -0.41088 " pathEditMode="relative" rAng="0" ptsTypes="AA">
                                      <p:cBhvr>
                                        <p:cTn id="13" dur="2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hlinkClick r:id="rId2" action="ppaction://hlinksldjump"/>
          </p:cNvPr>
          <p:cNvSpPr/>
          <p:nvPr/>
        </p:nvSpPr>
        <p:spPr>
          <a:xfrm>
            <a:off x="3951968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hlinkClick r:id="rId3" action="ppaction://hlinksldjump"/>
          </p:cNvPr>
          <p:cNvSpPr/>
          <p:nvPr/>
        </p:nvSpPr>
        <p:spPr>
          <a:xfrm>
            <a:off x="1748064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/>
          <p:cNvSpPr/>
          <p:nvPr/>
        </p:nvSpPr>
        <p:spPr>
          <a:xfrm>
            <a:off x="8359775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/>
          <p:cNvSpPr/>
          <p:nvPr/>
        </p:nvSpPr>
        <p:spPr>
          <a:xfrm>
            <a:off x="1294039" y="2628324"/>
            <a:ext cx="9603922" cy="3438422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D9D9D9"/>
              </a:gs>
              <a:gs pos="84000">
                <a:srgbClr val="ADADAD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/>
          <p:cNvSpPr/>
          <p:nvPr/>
        </p:nvSpPr>
        <p:spPr>
          <a:xfrm>
            <a:off x="4184649" y="871432"/>
            <a:ext cx="3822700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4503259" y="1053583"/>
            <a:ext cx="318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HOW TO MAKE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8064" y="2839995"/>
            <a:ext cx="5098507" cy="95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使用SU-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03T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智能语音识别系统，设置了对应回答，将固件下载到模块中从而使用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6155872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D9D9D9"/>
              </a:gs>
              <a:gs pos="0">
                <a:srgbClr val="ADADAD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477243" y="2108951"/>
            <a:ext cx="1441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语言交互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pic>
        <p:nvPicPr>
          <p:cNvPr id="40" name="Picture 39" descr="A picture containing container, square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059" y="7691004"/>
            <a:ext cx="784150" cy="784150"/>
          </a:xfrm>
          <a:prstGeom prst="rect">
            <a:avLst/>
          </a:prstGeom>
        </p:spPr>
      </p:pic>
      <p:pic>
        <p:nvPicPr>
          <p:cNvPr id="41" name="Picture 40" descr="A picture containing container, square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3419" y="7632090"/>
            <a:ext cx="1747837" cy="1747837"/>
          </a:xfrm>
          <a:prstGeom prst="rect">
            <a:avLst/>
          </a:prstGeom>
        </p:spPr>
      </p:pic>
      <p:pic>
        <p:nvPicPr>
          <p:cNvPr id="43" name="Picture 42" descr="A picture containing container, square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505" y="8125507"/>
            <a:ext cx="1262339" cy="1262339"/>
          </a:xfrm>
          <a:prstGeom prst="rect">
            <a:avLst/>
          </a:prstGeom>
        </p:spPr>
      </p:pic>
      <p:pic>
        <p:nvPicPr>
          <p:cNvPr id="29" name="Picture 28" descr="A model of a house&#10;&#10;Description automatically generated with medium confidenc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799" y="6066746"/>
            <a:ext cx="2217336" cy="211754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46386" y="7407925"/>
            <a:ext cx="593089" cy="52187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73673" y="7771954"/>
            <a:ext cx="923350" cy="812475"/>
          </a:xfrm>
          <a:prstGeom prst="rect">
            <a:avLst/>
          </a:prstGeom>
        </p:spPr>
      </p:pic>
      <p:sp>
        <p:nvSpPr>
          <p:cNvPr id="5" name="TextBox 10"/>
          <p:cNvSpPr txBox="1"/>
          <p:nvPr/>
        </p:nvSpPr>
        <p:spPr>
          <a:xfrm>
            <a:off x="2221000" y="210636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defRPr>
            </a:lvl1pPr>
          </a:lstStyle>
          <a:p>
            <a:r>
              <a:rPr lang="en-IN" sz="2400" b="1" dirty="0" err="1"/>
              <a:t>追</a:t>
            </a:r>
            <a:r>
              <a:rPr lang="zh-CN" altLang="en-US" sz="2400" b="1" dirty="0"/>
              <a:t> </a:t>
            </a:r>
            <a:r>
              <a:rPr lang="en-IN" sz="2400" b="1" dirty="0" err="1"/>
              <a:t>踪</a:t>
            </a:r>
            <a:endParaRPr lang="en-IN" sz="2400" b="1" dirty="0"/>
          </a:p>
        </p:txBody>
      </p:sp>
      <p:sp>
        <p:nvSpPr>
          <p:cNvPr id="10" name="TextBox 11"/>
          <p:cNvSpPr txBox="1"/>
          <p:nvPr/>
        </p:nvSpPr>
        <p:spPr>
          <a:xfrm>
            <a:off x="4434007" y="211063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喂</a:t>
            </a:r>
            <a:r>
              <a:rPr lang="zh-CN" altLang="en-US" sz="2400" b="1" dirty="0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食</a:t>
            </a:r>
            <a:endParaRPr lang="en-IN" sz="2400" b="1" dirty="0">
              <a:solidFill>
                <a:srgbClr val="D9D9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22" name="TextBox 13"/>
          <p:cNvSpPr txBox="1"/>
          <p:nvPr/>
        </p:nvSpPr>
        <p:spPr>
          <a:xfrm>
            <a:off x="8693969" y="2097673"/>
            <a:ext cx="141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 err="1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电机马达</a:t>
            </a:r>
            <a:endParaRPr lang="en-IN" sz="2400" b="1" dirty="0">
              <a:solidFill>
                <a:srgbClr val="D9D9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112" y="4051741"/>
            <a:ext cx="5653789" cy="15355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11111E-6 L 5E-6 -0.41088 " pathEditMode="relative" rAng="0" ptsTypes="AA">
                                      <p:cBhvr>
                                        <p:cTn id="11" dur="2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4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-2.59259E-6 L 0 -0.41088 " pathEditMode="relative" rAng="0" ptsTypes="AA">
                                      <p:cBhvr>
                                        <p:cTn id="13" dur="2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4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29167E-6 4.44444E-6 L -2.29167E-6 -0.41088 " pathEditMode="relative" rAng="0" ptsTypes="AA">
                                      <p:cBhvr>
                                        <p:cTn id="15" dur="2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1.45833E-6 2.22222E-6 L 1.45833E-6 -0.41088 " pathEditMode="relative" rAng="0" ptsTypes="AA">
                                      <p:cBhvr>
                                        <p:cTn id="17" dur="2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45833E-6 -1.85185E-6 L -1.45833E-6 -0.41088 " pathEditMode="relative" rAng="0" ptsTypes="AA">
                                      <p:cBhvr>
                                        <p:cTn id="19" dur="2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4" presetClass="path" presetSubtype="0" accel="50000" decel="5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3.125E-6 -3.7037E-6 L -3.125E-6 -0.41088 " pathEditMode="relative" rAng="0" ptsTypes="AA">
                                      <p:cBhvr>
                                        <p:cTn id="21" dur="2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hlinkClick r:id="rId2" action="ppaction://hlinksldjump"/>
          </p:cNvPr>
          <p:cNvSpPr/>
          <p:nvPr/>
        </p:nvSpPr>
        <p:spPr>
          <a:xfrm>
            <a:off x="6155872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hlinkClick r:id="rId3" action="ppaction://hlinksldjump"/>
          </p:cNvPr>
          <p:cNvSpPr/>
          <p:nvPr/>
        </p:nvSpPr>
        <p:spPr>
          <a:xfrm>
            <a:off x="3951968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hlinkClick r:id="rId4" action="ppaction://hlinksldjump"/>
          </p:cNvPr>
          <p:cNvSpPr/>
          <p:nvPr/>
        </p:nvSpPr>
        <p:spPr>
          <a:xfrm>
            <a:off x="1748064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/>
          <p:cNvSpPr/>
          <p:nvPr/>
        </p:nvSpPr>
        <p:spPr>
          <a:xfrm>
            <a:off x="1294039" y="2628324"/>
            <a:ext cx="9603922" cy="3438422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D9D9D9"/>
              </a:gs>
              <a:gs pos="84000">
                <a:srgbClr val="ADADAD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/>
          <p:cNvSpPr/>
          <p:nvPr/>
        </p:nvSpPr>
        <p:spPr>
          <a:xfrm>
            <a:off x="4184649" y="871432"/>
            <a:ext cx="3822700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4503259" y="1053583"/>
            <a:ext cx="318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HOW TO MAKE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661" y="2665607"/>
            <a:ext cx="4642122" cy="1879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使用TB66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12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稳压力电机驱动（防止卡死烧坏）驱动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1:48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减速电机马达带动狗前进和停止、转弯。后轮制动前轮是万向轮保证狗身体平衡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pic>
        <p:nvPicPr>
          <p:cNvPr id="40" name="Picture 39" descr="A picture containing container, square&#10;&#10;Description automatically generated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637" y="7830407"/>
            <a:ext cx="784150" cy="784150"/>
          </a:xfrm>
          <a:prstGeom prst="rect">
            <a:avLst/>
          </a:prstGeom>
        </p:spPr>
      </p:pic>
      <p:pic>
        <p:nvPicPr>
          <p:cNvPr id="41" name="Picture 40" descr="A picture containing container, square&#10;&#10;Description automatically generated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137" y="7771493"/>
            <a:ext cx="1747837" cy="1747837"/>
          </a:xfrm>
          <a:prstGeom prst="rect">
            <a:avLst/>
          </a:prstGeom>
        </p:spPr>
      </p:pic>
      <p:pic>
        <p:nvPicPr>
          <p:cNvPr id="43" name="Picture 42" descr="A picture containing container, square&#10;&#10;Description automatically generated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223" y="8264910"/>
            <a:ext cx="1262339" cy="1262339"/>
          </a:xfrm>
          <a:prstGeom prst="rect">
            <a:avLst/>
          </a:prstGeom>
        </p:spPr>
      </p:pic>
      <p:sp>
        <p:nvSpPr>
          <p:cNvPr id="8" name="Rectangle: Rounded Corners 7"/>
          <p:cNvSpPr/>
          <p:nvPr/>
        </p:nvSpPr>
        <p:spPr>
          <a:xfrm>
            <a:off x="8359775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D9D9D9"/>
              </a:gs>
              <a:gs pos="0">
                <a:srgbClr val="ADADAD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93969" y="2120493"/>
            <a:ext cx="141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电机马达</a:t>
            </a:r>
            <a:endParaRPr lang="en-I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95203" y="6875765"/>
            <a:ext cx="1625415" cy="1430237"/>
          </a:xfrm>
          <a:prstGeom prst="rect">
            <a:avLst/>
          </a:prstGeom>
          <a:effectLst/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02468" y="7852863"/>
            <a:ext cx="865639" cy="761693"/>
          </a:xfrm>
          <a:prstGeom prst="rect">
            <a:avLst/>
          </a:prstGeom>
          <a:effectLst/>
        </p:spPr>
      </p:pic>
      <p:sp>
        <p:nvSpPr>
          <p:cNvPr id="5" name="TextBox 10"/>
          <p:cNvSpPr txBox="1"/>
          <p:nvPr/>
        </p:nvSpPr>
        <p:spPr>
          <a:xfrm>
            <a:off x="2221000" y="210636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defRPr>
            </a:lvl1pPr>
          </a:lstStyle>
          <a:p>
            <a:r>
              <a:rPr lang="en-IN" sz="2400" b="1" dirty="0" err="1"/>
              <a:t>追</a:t>
            </a:r>
            <a:r>
              <a:rPr lang="zh-CN" altLang="en-US" sz="2400" b="1" dirty="0"/>
              <a:t> </a:t>
            </a:r>
            <a:r>
              <a:rPr lang="en-IN" sz="2400" b="1" dirty="0" err="1"/>
              <a:t>踪</a:t>
            </a:r>
            <a:endParaRPr lang="en-IN" sz="2400" b="1" dirty="0"/>
          </a:p>
        </p:txBody>
      </p:sp>
      <p:sp>
        <p:nvSpPr>
          <p:cNvPr id="10" name="TextBox 11"/>
          <p:cNvSpPr txBox="1"/>
          <p:nvPr/>
        </p:nvSpPr>
        <p:spPr>
          <a:xfrm>
            <a:off x="4434007" y="211063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喂</a:t>
            </a:r>
            <a:r>
              <a:rPr lang="zh-CN" altLang="en-US" sz="2400" b="1" dirty="0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食</a:t>
            </a:r>
            <a:endParaRPr lang="en-IN" sz="2400" b="1" dirty="0">
              <a:solidFill>
                <a:srgbClr val="D9D9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21" name="TextBox 12"/>
          <p:cNvSpPr txBox="1"/>
          <p:nvPr/>
        </p:nvSpPr>
        <p:spPr>
          <a:xfrm>
            <a:off x="6489978" y="2100323"/>
            <a:ext cx="141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 err="1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语言交互</a:t>
            </a:r>
            <a:endParaRPr lang="en-IN" sz="2400" b="1" dirty="0">
              <a:solidFill>
                <a:srgbClr val="D9D9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pic>
        <p:nvPicPr>
          <p:cNvPr id="24" name="图片 23" descr="图片包含 桌子, 建筑, 木, 男人&#10;&#10;AI 生成的内容可能不正确。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4" t="27562"/>
          <a:stretch>
            <a:fillRect/>
          </a:stretch>
        </p:blipFill>
        <p:spPr>
          <a:xfrm>
            <a:off x="1394006" y="2768910"/>
            <a:ext cx="4475913" cy="31718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2.96296E-6 L 3.54167E-6 -0.41088 " pathEditMode="relative" rAng="0" ptsTypes="AA">
                                      <p:cBhvr>
                                        <p:cTn id="11" dur="2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4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5E-6 -2.96296E-6 L -2.5E-6 -0.41088 " pathEditMode="relative" rAng="0" ptsTypes="AA">
                                      <p:cBhvr>
                                        <p:cTn id="13" dur="2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4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5E-6 3.33333E-6 L 2.5E-6 -0.41088 " pathEditMode="relative" rAng="0" ptsTypes="AA">
                                      <p:cBhvr>
                                        <p:cTn id="15" dur="2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2.08333E-7 -7.40741E-7 L -2.08333E-7 -0.41088 " pathEditMode="relative" rAng="0" ptsTypes="AA">
                                      <p:cBhvr>
                                        <p:cTn id="17" dur="2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5E-6 -2.59259E-6 L 5E-6 -0.41088 " pathEditMode="relative" rAng="0" ptsTypes="AA">
                                      <p:cBhvr>
                                        <p:cTn id="19" dur="2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285750"/>
            <a:ext cx="15887700" cy="821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/>
        </p:nvSpPr>
        <p:spPr>
          <a:xfrm>
            <a:off x="5371465" y="2423160"/>
            <a:ext cx="6363970" cy="354584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endParaRPr lang="en-US" altLang="en-IN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en-US" altLang="en-IN" sz="3200" dirty="0">
                <a:solidFill>
                  <a:schemeClr val="bg1"/>
                </a:solidFill>
                <a:latin typeface="+mn-ea"/>
                <a:cs typeface="+mn-ea"/>
              </a:rPr>
              <a:t>1.</a:t>
            </a:r>
            <a:r>
              <a:rPr lang="zh-CN" altLang="en-US" sz="3200" dirty="0">
                <a:solidFill>
                  <a:schemeClr val="bg1"/>
                </a:solidFill>
                <a:latin typeface="+mn-ea"/>
                <a:cs typeface="+mn-ea"/>
              </a:rPr>
              <a:t>基于舵机使狗尾巴动起来</a:t>
            </a: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chemeClr val="bg1"/>
                </a:solidFill>
                <a:latin typeface="+mn-ea"/>
                <a:cs typeface="+mn-ea"/>
              </a:rPr>
              <a:t>为人类提供情绪价值</a:t>
            </a: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en-US" altLang="zh-CN" sz="3200" dirty="0">
                <a:solidFill>
                  <a:schemeClr val="bg1"/>
                </a:solidFill>
                <a:latin typeface="+mn-ea"/>
                <a:cs typeface="+mn-ea"/>
              </a:rPr>
              <a:t>2.</a:t>
            </a:r>
            <a:r>
              <a:rPr lang="zh-CN" altLang="en-US" sz="3200" dirty="0">
                <a:solidFill>
                  <a:schemeClr val="bg1"/>
                </a:solidFill>
                <a:latin typeface="+mn-ea"/>
                <a:cs typeface="+mn-ea"/>
              </a:rPr>
              <a:t>增加交互</a:t>
            </a: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chemeClr val="bg1"/>
                </a:solidFill>
                <a:latin typeface="+mn-ea"/>
                <a:cs typeface="+mn-ea"/>
              </a:rPr>
              <a:t>可以通过语音让其行动</a:t>
            </a:r>
          </a:p>
          <a:p>
            <a:pPr algn="ctr">
              <a:lnSpc>
                <a:spcPct val="150000"/>
              </a:lnSpc>
              <a:buClrTx/>
              <a:buSzTx/>
              <a:buFontTx/>
            </a:pPr>
            <a:endParaRPr lang="zh-CN" altLang="en-US" sz="3200" b="1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493136" y="-455295"/>
            <a:ext cx="9934324" cy="3292579"/>
            <a:chOff x="4991" y="0"/>
            <a:chExt cx="15645" cy="5185"/>
          </a:xfrm>
        </p:grpSpPr>
        <p:pic>
          <p:nvPicPr>
            <p:cNvPr id="6" name="Picture 5" descr="A picture containing text, indoor, music, synthesizer&#10;&#10;Description automatically generated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1" y="0"/>
              <a:ext cx="9217" cy="5185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4919" y="1233"/>
              <a:ext cx="5717" cy="208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 algn="ctr"/>
              <a:r>
                <a:rPr lang="en-US" altLang="zh-CN" sz="8000" b="1" dirty="0">
                  <a:ln w="12700">
                    <a:solidFill>
                      <a:schemeClr val="accent3">
                        <a:lumMod val="50000"/>
                      </a:schemeClr>
                    </a:solidFill>
                    <a:prstDash val="solid"/>
                  </a:ln>
                  <a:pattFill prst="narHorz">
                    <a:fgClr>
                      <a:schemeClr val="accent3"/>
                    </a:fgClr>
                    <a:bgClr>
                      <a:schemeClr val="accent3">
                        <a:lumMod val="40000"/>
                        <a:lumOff val="60000"/>
                      </a:schemeClr>
                    </a:bgClr>
                  </a:pattFill>
                  <a:effectLst>
                    <a:innerShdw blurRad="177800">
                      <a:schemeClr val="accent3">
                        <a:lumMod val="50000"/>
                      </a:schemeClr>
                    </a:innerShdw>
                  </a:effectLst>
                  <a:latin typeface="Press Start 2P" panose="00000500000000000000" pitchFamily="2" charset="0"/>
                </a:rPr>
                <a:t>Dog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64185" y="2340610"/>
            <a:ext cx="4536440" cy="3765550"/>
            <a:chOff x="731" y="3686"/>
            <a:chExt cx="7144" cy="593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>
              <a:off x="1764" y="3686"/>
              <a:ext cx="4109" cy="3616"/>
            </a:xfrm>
            <a:prstGeom prst="rect">
              <a:avLst/>
            </a:prstGeom>
            <a:effectLst>
              <a:outerShdw blurRad="444500" dist="38100" dir="8100000" algn="tr" rotWithShape="0">
                <a:prstClr val="black">
                  <a:alpha val="79000"/>
                </a:prstClr>
              </a:outerShdw>
            </a:effectLst>
          </p:spPr>
        </p:pic>
        <p:sp>
          <p:nvSpPr>
            <p:cNvPr id="2" name="矩形 1"/>
            <p:cNvSpPr/>
            <p:nvPr/>
          </p:nvSpPr>
          <p:spPr>
            <a:xfrm>
              <a:off x="731" y="7436"/>
              <a:ext cx="7144" cy="2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noAutofit/>
            </a:bodyPr>
            <a:lstStyle/>
            <a:p>
              <a:pPr algn="ctr"/>
              <a:r>
                <a:rPr lang="en-US" altLang="zh-CN" sz="7200" b="1">
                  <a:ln w="12700">
                    <a:solidFill>
                      <a:schemeClr val="accent3">
                        <a:lumMod val="50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innerShdw blurRad="177800">
                      <a:schemeClr val="accent3">
                        <a:lumMod val="50000"/>
                      </a:schemeClr>
                    </a:innerShdw>
                  </a:effectLst>
                  <a:latin typeface="Times New Roman" panose="02020603050405020304" charset="0"/>
                  <a:cs typeface="Times New Roman" panose="02020603050405020304" charset="0"/>
                </a:rPr>
                <a:t>Future Plan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495"/>
    </mc:Choice>
    <mc:Fallback xmlns="">
      <p:transition spd="slow" advTm="1174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44444E-6 L -0.25 -4.44444E-6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18FC7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9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80064" y="1264925"/>
            <a:ext cx="4031873" cy="25160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60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THANK</a:t>
            </a:r>
          </a:p>
          <a:p>
            <a:pPr algn="ctr">
              <a:lnSpc>
                <a:spcPct val="150000"/>
              </a:lnSpc>
            </a:pPr>
            <a:r>
              <a:rPr lang="en-IN" sz="60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4450" y="3918300"/>
            <a:ext cx="1943100" cy="526043"/>
          </a:xfrm>
          <a:prstGeom prst="rect">
            <a:avLst/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hlinkClick r:id="" action="ppaction://hlinkshowjump?jump=nextslide"/>
          </p:cNvPr>
          <p:cNvSpPr txBox="1"/>
          <p:nvPr/>
        </p:nvSpPr>
        <p:spPr>
          <a:xfrm>
            <a:off x="5695891" y="404282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Quit</a:t>
            </a:r>
            <a:endParaRPr lang="en-IN" sz="12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ress Start 2P" panose="00000500000000000000" pitchFamily="2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37756" y="7481038"/>
            <a:ext cx="2300287" cy="202407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753957" y="7025223"/>
            <a:ext cx="2785217" cy="245077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2632148" y="10388541"/>
            <a:ext cx="1814052" cy="159622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51682" y="9752132"/>
            <a:ext cx="1814052" cy="159622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36250" y="11371527"/>
            <a:ext cx="1300063" cy="114395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089833" y="11371527"/>
            <a:ext cx="1300063" cy="114395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124450" y="4577958"/>
            <a:ext cx="1943100" cy="526043"/>
          </a:xfrm>
          <a:prstGeom prst="rect">
            <a:avLst/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hlinkClick r:id="" action="ppaction://hlinkshowjump?jump=firstslide"/>
          </p:cNvPr>
          <p:cNvSpPr txBox="1"/>
          <p:nvPr/>
        </p:nvSpPr>
        <p:spPr>
          <a:xfrm>
            <a:off x="5465058" y="4702480"/>
            <a:ext cx="1261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Restart</a:t>
            </a:r>
            <a:endParaRPr lang="en-IN" sz="12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ress Start 2P" panose="0000050000000000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4.44444E-6 L 1.11022E-16 -0.41088 " pathEditMode="relative" rAng="0" ptsTypes="AA">
                                      <p:cBhvr>
                                        <p:cTn id="6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7.40741E-7 L -1.66667E-6 -0.41088 " pathEditMode="relative" rAng="0" ptsTypes="AA">
                                      <p:cBhvr>
                                        <p:cTn id="8" dur="2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48148E-6 L -0.00612 -1.175 " pathEditMode="relative" rAng="0" ptsTypes="AA">
                                      <p:cBhvr>
                                        <p:cTn id="10" dur="2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3" y="-5875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4.44444E-6 L -0.00013 -1.06944 " pathEditMode="relative" rAng="0" ptsTypes="AA">
                                      <p:cBhvr>
                                        <p:cTn id="12" dur="2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5347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4.81481E-6 L 3.95833E-6 -1.51783 " pathEditMode="relative" rAng="0" ptsTypes="AA">
                                      <p:cBhvr>
                                        <p:cTn id="14" dur="2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590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4.81481E-6 L 3.95833E-6 -1.51783 " pathEditMode="relative" rAng="0" ptsTypes="AA">
                                      <p:cBhvr>
                                        <p:cTn id="16" dur="2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18FC7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EE0A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18FC7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EE0A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4" grpId="0" animBg="1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279</Words>
  <Application>Microsoft Macintosh PowerPoint</Application>
  <PresentationFormat>宽屏</PresentationFormat>
  <Paragraphs>72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Times New Roman</vt:lpstr>
      <vt:lpstr>微软雅黑</vt:lpstr>
      <vt:lpstr>Calibri Light</vt:lpstr>
      <vt:lpstr>Arial Bold</vt:lpstr>
      <vt:lpstr>Arial</vt:lpstr>
      <vt:lpstr>Press Start 2P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Amal R Babu</dc:creator>
  <cp:lastModifiedBy>洛克 夏</cp:lastModifiedBy>
  <cp:revision>20</cp:revision>
  <dcterms:created xsi:type="dcterms:W3CDTF">2026-03-23T12:03:39Z</dcterms:created>
  <dcterms:modified xsi:type="dcterms:W3CDTF">2026-03-23T13:38:45Z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D06064DA2E61457842E1BF69A6F26A9C_42</vt:lpwstr>
  </property>
  <property fmtid="{D5CDD505-2E9C-101B-9397-08002B2CF9AE}" pid="3" name="KSOProductBuildVer">
    <vt:lpwstr>2052-12.1.21861.21861</vt:lpwstr>
  </property>
</Properties>
</file>